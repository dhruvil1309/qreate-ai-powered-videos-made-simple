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Qreate: an AI production pipeline that turns any topic, idea or trend into a publish-ready vertical video for the Qoneqt Global Feed. The phone on the right shows the kind of output we generate: hook-first captions, community tag, Hinglish voiceover. Fill in team name, ID and college before submitting.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problem: short-form video dominates social feeds, but producing it is slow and skill-heavy. Existing tools solve one piece each. Nobody offers an end-to-end, repeatable pipeline that researches, writes, self-checks, produces and packages video for a specific community platform like Qoneqt.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Qreate is not a single generation — it is a repeatable pipeline. Four things make it better than existing tools: research grounding, a self-critique loop, hybrid visuals that control cost, and output that is formatted for the Qoneqt feed and Indian audiences out of the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Every stage writes its output to storage, so if one scene fails we regenerate just that scene instead of the whole video. Batch mode takes a CSV of topics and produces one video per row using the same pipeline — that is the 'at scale'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submits jobs to a FastAPI gateway; jobs go on a Redis queue and a pool of agent workers processes them in parallel. All model calls go through one router, so any model can be swapped or used as a fallback without touching pipeline code. Media lives in object storage; job state in Postgres. The publisher hands the final package to Qoneqt.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heart of the system: the script agent outputs a strict JSON scene plan, validated with a schema. Every downstream stage reads from that plan, which is what makes the pipeline repeatable and debuggable. The critic agent uses an explicit rubric and forces rewrites until the score passes a threshold.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model sits behind an adapter, so we can pick the best quality-to-cost option per stage and fall back automatically if one provider fails or rate-limits. Python handles the AI and media work; Next.js gives a clean studio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table shows why a pipeline beats a tool: consistency, grounding and a quality gate at every run. The Qoneqt-specific packaging and Indian-language support are what make it fit this platform rather than being a generic video maker.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comes from the queue and stateless workers. Cost is controlled with quality tiers: Lite uses stock footage and open-source TTS; Pro adds a few AI-generated hero clips. Be clear these are targets and estimates that we will measure during the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fully feasible in 8 hours because we use hosted model APIs and FFmpeg rather than training anything. The work splits into three parallel tracks from hour 1 (assign them across your team members); integration starts at 5.5 so we have buffer to deploy, publish a real video on Qoneqt and record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for Qoneqt: a dependable content engine for the Global Feed and a tool that empowers every community. Deliverables match the brief exactly: public GitHub, live deployment, demo video and at least one video published on the Qoneqt Global Feed.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this goes after the hackathon: closing the loop with real engagement data is the biggest win, followed by persona consistency and automated daily content for every community.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one-line pitch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QONEQT × CTRL FREAK 2026  ·  ROUND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Qreate</a:t>
            </a:r>
            <a:endParaRPr lang="en-US" sz="5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F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in. Publish-ready Qoneqt reel out.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402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LLM-Powered Content Pipeline — an AI system that turns any topic, idea or trend into engaging, publish-ready video for the Qoneqt Global Feed.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4937760" cy="1325880"/>
          </a:xfrm>
          <a:prstGeom prst="roundRect">
            <a:avLst>
              <a:gd name="adj" fmla="val 5517"/>
            </a:avLst>
          </a:prstGeom>
          <a:solidFill>
            <a:srgbClr val="1A163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 </a:t>
            </a:r>
            <a:pPr indent="0" marL="0">
              <a:buNone/>
            </a:pPr>
            <a:r>
              <a:rPr lang="en-US" sz="1400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Team Name]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 </a:t>
            </a:r>
            <a:pPr indent="0" marL="0">
              <a:buNone/>
            </a:pPr>
            <a:r>
              <a:rPr lang="en-US" sz="1400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Team ID]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College:  </a:t>
            </a:r>
            <a:pPr indent="0" marL="0">
              <a:buNone/>
            </a:pPr>
            <a:r>
              <a:rPr lang="en-US" sz="1400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College Name]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365760"/>
            <a:ext cx="2286000" cy="4343400"/>
          </a:xfrm>
          <a:prstGeom prst="roundRect">
            <a:avLst>
              <a:gd name="adj" fmla="val 10000"/>
            </a:avLst>
          </a:prstGeom>
          <a:solidFill>
            <a:srgbClr val="1A1633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3952" y="502920"/>
            <a:ext cx="2048256" cy="4069080"/>
          </a:xfrm>
          <a:prstGeom prst="roundRect">
            <a:avLst>
              <a:gd name="adj" fmla="val 8036"/>
            </a:avLst>
          </a:prstGeom>
          <a:solidFill>
            <a:srgbClr val="2A1F5C"/>
          </a:solidFill>
          <a:ln w="12700">
            <a:solidFill>
              <a:srgbClr val="2A1F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0" y="594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Qoneqt  ·  Global Feed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583680" y="914400"/>
            <a:ext cx="1828800" cy="1600200"/>
          </a:xfrm>
          <a:prstGeom prst="roundRect">
            <a:avLst>
              <a:gd name="adj" fmla="val 5714"/>
            </a:avLst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41732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583680" y="26517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brain forgets </a:t>
            </a:r>
            <a:pPr indent="0" marL="0">
              <a:buNone/>
            </a:pPr>
            <a:r>
              <a:rPr lang="en-US" sz="1150" b="1" dirty="0">
                <a:solidFill>
                  <a:srgbClr val="B8F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</a:t>
            </a:r>
            <a:pPr indent="0" marL="0">
              <a:buNone/>
            </a:pPr>
            <a:r>
              <a:rPr lang="en-US" sz="115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a lecture in a day. Fix it in 30s.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583680" y="3611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#StudyCommunity  ·  Hinglish VO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583680" y="3977640"/>
            <a:ext cx="1828800" cy="45720"/>
          </a:xfrm>
          <a:prstGeom prst="rect">
            <a:avLst/>
          </a:prstGeom>
          <a:solidFill>
            <a:srgbClr val="4B3F8F"/>
          </a:solidFill>
          <a:ln w="12700">
            <a:solidFill>
              <a:srgbClr val="4B3F8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0" y="3977640"/>
            <a:ext cx="1097280" cy="45720"/>
          </a:xfrm>
          <a:prstGeom prst="rect">
            <a:avLst/>
          </a:prstGeom>
          <a:solidFill>
            <a:srgbClr val="B8F34A"/>
          </a:solidFill>
          <a:ln w="12700">
            <a:solidFill>
              <a:srgbClr val="B8F34A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4160520"/>
            <a:ext cx="182880" cy="182880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4160520"/>
            <a:ext cx="182880" cy="182880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4160520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89520" y="416052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· 9:16 · 45s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/// PROBLEM + EXISTING GAP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is the feed. Making it doesn't scale.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136017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216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is slow to make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5087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scripting, visuals, voice, captions and editing take a creator hours for one 45-second reel.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" y="24574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2313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affected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26060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Qoneqt communities and creators who need a steady flow of fresh video, and the Global Feed that needs it daily.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42900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355473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34107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is inconsistent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1143000" y="3703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Rushed content has weak hooks, factual mistakes and formats that don't fit a vertical social feed.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480560" y="1188720"/>
            <a:ext cx="4206240" cy="3429000"/>
          </a:xfrm>
          <a:prstGeom prst="roundRect">
            <a:avLst>
              <a:gd name="adj" fmla="val 2133"/>
            </a:avLst>
          </a:prstGeom>
          <a:solidFill>
            <a:srgbClr val="1A1633"/>
          </a:solidFill>
          <a:ln w="12700">
            <a:solidFill>
              <a:srgbClr val="1A1633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663440" y="1298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solutions &amp; their gaps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4663440" y="16916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editors (CapCut, Canva)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466344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manual — quality depends on hours of human effort.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4663440" y="23317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Text-to-video SaaS (InVideo, Pictory)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4663440" y="2560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stock look, no community context, no quality gate.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4663440" y="29718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Gen-video models (Veo, Kling, Sora)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4663440" y="3200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clip at a time — no script, voice, captions or edit.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4663440" y="3611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repurposers (Opus Clip)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4663440" y="3840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an existing long video; can't start from an idea.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4663440" y="4160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F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gap: </a:t>
            </a:r>
            <a:pPr indent="0" marL="0">
              <a:buNone/>
            </a:pPr>
            <a:r>
              <a:rPr lang="en-US" sz="1050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repeatable, fact-grounded, community-aware pipeline with built-in quality control.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QONEQT × CTRL FREAK 2026  ·  Qreate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/// PROPOSED SOLUTION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Qreate: an AI production studio, as a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840480" cy="3383280"/>
          </a:xfrm>
          <a:prstGeom prst="roundRect">
            <a:avLst>
              <a:gd name="adj" fmla="val 2162"/>
            </a:avLst>
          </a:prstGeom>
          <a:solidFill>
            <a:srgbClr val="241D4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F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simple terms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Qreate a topic, a prompt, an idea or a trend. A team of AI agents researches it, writes a hook-first script, critiques and improves it, creates visuals and voice, edits everything into a captioned 9:16 video, checks quality, and packages it for the Qoneqt Global Feed.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5204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topic → 1 reel in minutes.
</a:t>
            </a:r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topics → 100 reels, same pipeline.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17720" y="128016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3450" y="1405890"/>
            <a:ext cx="251460" cy="2514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303520" y="1234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Grounded, not guessed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Researches live sources before writing, so facts are current and cited.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17720" y="214884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227457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03520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Self-critiquing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303520" y="2377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 agent scores hooks and clarity and forces rewrites below the bar.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617720" y="301752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450" y="314325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303520" y="2971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Cost-smart visuals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303520" y="3246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Mixes stock footage, AI images and AI video only where it adds impact.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617720" y="388620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450" y="401193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303520" y="3840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Feed-ready by default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5303520" y="4114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9:16, animated captions, Hindi/Hinglish/English, Qoneqt caption + tags.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QONEQT × CTRL FREAK 2026  ·  Qreate</a:t>
            </a:r>
            <a:endParaRPr lang="en-US" sz="800" dirty="0"/>
          </a:p>
        </p:txBody>
      </p:sp>
      <p:sp>
        <p:nvSpPr>
          <p:cNvPr id="25" name="Text 19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/// HOW IT WORKS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stages from idea to Global Feed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45029" y="1572768"/>
            <a:ext cx="7053943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6701" y="1234440"/>
            <a:ext cx="676656" cy="67665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865" y="1403604"/>
            <a:ext cx="338328" cy="338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2011680"/>
            <a:ext cx="10842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24028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&amp; Trend Radar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21208" y="2715768"/>
            <a:ext cx="10476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Topic, prompt, idea, URL or live trend + target community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882358" y="1234440"/>
            <a:ext cx="676656" cy="67665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522" y="1403604"/>
            <a:ext cx="338328" cy="33832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78577" y="2011680"/>
            <a:ext cx="10842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1678577" y="224028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696865" y="2715768"/>
            <a:ext cx="10476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pulls fresh facts, stats and sources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058015" y="1234440"/>
            <a:ext cx="676656" cy="67665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179" y="1403604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854234" y="2011680"/>
            <a:ext cx="10842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2854234" y="224028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&amp; Scene Plan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2872522" y="2715768"/>
            <a:ext cx="10476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hooks, 30–60s script, scene-by-scene JSON plan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233672" y="1234440"/>
            <a:ext cx="676656" cy="67665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2836" y="1403604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029891" y="2011680"/>
            <a:ext cx="10842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4029891" y="224028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 Loop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4048179" y="2715768"/>
            <a:ext cx="10476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hook, clarity, accuracy, safety; rewrites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5409329" y="1234440"/>
            <a:ext cx="676656" cy="67665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8493" y="1403604"/>
            <a:ext cx="338328" cy="33832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05549" y="2011680"/>
            <a:ext cx="10842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5205549" y="224028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Visuals &amp; Voice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5223837" y="2715768"/>
            <a:ext cx="10476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/ AI image / AI clip per scene + TTS voice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584986" y="1234440"/>
            <a:ext cx="676656" cy="67665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4150" y="1403604"/>
            <a:ext cx="338328" cy="33832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381206" y="2011680"/>
            <a:ext cx="10842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6381206" y="224028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6399494" y="2715768"/>
            <a:ext cx="10476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Captions, music, motion, 9:16 render with FFmpeg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7760643" y="1234440"/>
            <a:ext cx="676656" cy="676656"/>
          </a:xfrm>
          <a:prstGeom prst="ellipse">
            <a:avLst/>
          </a:prstGeom>
          <a:solidFill>
            <a:srgbClr val="B8F34A"/>
          </a:solidFill>
          <a:ln w="12700">
            <a:solidFill>
              <a:srgbClr val="B8F34A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9807" y="1403604"/>
            <a:ext cx="338328" cy="33832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556863" y="2011680"/>
            <a:ext cx="10842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7556863" y="224028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&amp; Publish</a:t>
            </a:r>
            <a:endParaRPr lang="en-US" sz="1100" dirty="0"/>
          </a:p>
        </p:txBody>
      </p:sp>
      <p:sp>
        <p:nvSpPr>
          <p:cNvPr id="39" name="Text 30"/>
          <p:cNvSpPr txBox="1"/>
          <p:nvPr/>
        </p:nvSpPr>
        <p:spPr>
          <a:xfrm>
            <a:off x="7575151" y="2715768"/>
            <a:ext cx="10476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checks, human approve, post to Qoneqt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A1633"/>
          </a:solidFill>
          <a:ln w="12700">
            <a:solidFill>
              <a:srgbClr val="1A1633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685800" y="3931920"/>
            <a:ext cx="411480" cy="411480"/>
          </a:xfrm>
          <a:prstGeom prst="ellipse">
            <a:avLst/>
          </a:prstGeom>
          <a:solidFill>
            <a:srgbClr val="241D4A"/>
          </a:solidFill>
          <a:ln w="12700">
            <a:solidFill>
              <a:srgbClr val="241D4A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670" y="4034790"/>
            <a:ext cx="205740" cy="205740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188720" y="3931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per stage</a:t>
            </a:r>
            <a:endParaRPr lang="en-US" sz="1100" dirty="0"/>
          </a:p>
        </p:txBody>
      </p:sp>
      <p:sp>
        <p:nvSpPr>
          <p:cNvPr id="44" name="Shape 34"/>
          <p:cNvSpPr/>
          <p:nvPr/>
        </p:nvSpPr>
        <p:spPr>
          <a:xfrm>
            <a:off x="2697480" y="3931920"/>
            <a:ext cx="411480" cy="411480"/>
          </a:xfrm>
          <a:prstGeom prst="ellipse">
            <a:avLst/>
          </a:prstGeom>
          <a:solidFill>
            <a:srgbClr val="241D4A"/>
          </a:solidFill>
          <a:ln w="12700">
            <a:solidFill>
              <a:srgbClr val="241D4A"/>
            </a:solidFill>
            <a:prstDash val="solid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00350" y="4034790"/>
            <a:ext cx="205740" cy="20574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3200400" y="3931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+ model fallback</a:t>
            </a:r>
            <a:endParaRPr lang="en-US" sz="1100" dirty="0"/>
          </a:p>
        </p:txBody>
      </p:sp>
      <p:sp>
        <p:nvSpPr>
          <p:cNvPr id="47" name="Shape 36"/>
          <p:cNvSpPr/>
          <p:nvPr/>
        </p:nvSpPr>
        <p:spPr>
          <a:xfrm>
            <a:off x="4709160" y="3931920"/>
            <a:ext cx="411480" cy="411480"/>
          </a:xfrm>
          <a:prstGeom prst="ellipse">
            <a:avLst/>
          </a:prstGeom>
          <a:solidFill>
            <a:srgbClr val="241D4A"/>
          </a:solidFill>
          <a:ln w="12700">
            <a:solidFill>
              <a:srgbClr val="241D4A"/>
            </a:solidFill>
            <a:prstDash val="solid"/>
          </a:ln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2030" y="4034790"/>
            <a:ext cx="205740" cy="205740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5212080" y="3931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one scene</a:t>
            </a:r>
            <a:endParaRPr lang="en-US" sz="1100" dirty="0"/>
          </a:p>
        </p:txBody>
      </p:sp>
      <p:sp>
        <p:nvSpPr>
          <p:cNvPr id="50" name="Shape 38"/>
          <p:cNvSpPr/>
          <p:nvPr/>
        </p:nvSpPr>
        <p:spPr>
          <a:xfrm>
            <a:off x="6720840" y="3931920"/>
            <a:ext cx="411480" cy="411480"/>
          </a:xfrm>
          <a:prstGeom prst="ellipse">
            <a:avLst/>
          </a:prstGeom>
          <a:solidFill>
            <a:srgbClr val="241D4A"/>
          </a:solidFill>
          <a:ln w="12700">
            <a:solidFill>
              <a:srgbClr val="241D4A"/>
            </a:solidFill>
            <a:prstDash val="solid"/>
          </a:ln>
        </p:spPr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23710" y="4034790"/>
            <a:ext cx="205740" cy="205740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7223760" y="3931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CSV of topics</a:t>
            </a:r>
            <a:endParaRPr lang="en-US" sz="1100" dirty="0"/>
          </a:p>
        </p:txBody>
      </p:sp>
      <p:sp>
        <p:nvSpPr>
          <p:cNvPr id="53" name="Text 4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QONEQT × CTRL FREAK 2026  ·  Qreate</a:t>
            </a:r>
            <a:endParaRPr lang="en-US" sz="800" dirty="0"/>
          </a:p>
        </p:txBody>
      </p:sp>
      <p:sp>
        <p:nvSpPr>
          <p:cNvPr id="54" name="Text 4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/// SYSTEM 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Modular, queue-driven, model-agnostic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1A163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07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/ Admin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6362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Qoneqt community owner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1A163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591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Dashboard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15184"/>
            <a:ext cx="15544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topic or trend input · batch CSV · live progress · scene editor · approve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228600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1A163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6040" y="23591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615184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auth · jobs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14600" y="123444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1A163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06040" y="1307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Queue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606040" y="1563624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Celery workers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14600" y="329184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1A163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06040" y="33649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606040" y="36210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(jobs) · R2 (media)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80560" y="1188720"/>
            <a:ext cx="2331720" cy="3429000"/>
          </a:xfrm>
          <a:prstGeom prst="roundRect">
            <a:avLst>
              <a:gd name="adj" fmla="val 3137"/>
            </a:avLst>
          </a:prstGeom>
          <a:solidFill>
            <a:srgbClr val="241D4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0" y="12618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F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Workers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1600200"/>
            <a:ext cx="2057400" cy="329184"/>
          </a:xfrm>
          <a:prstGeom prst="roundRect">
            <a:avLst>
              <a:gd name="adj" fmla="val 16667"/>
            </a:avLst>
          </a:prstGeom>
          <a:solidFill>
            <a:srgbClr val="1A1633"/>
          </a:solidFill>
          <a:ln w="12700">
            <a:solidFill>
              <a:srgbClr val="1A16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09160" y="1600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&amp; Research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2020824"/>
            <a:ext cx="2057400" cy="329184"/>
          </a:xfrm>
          <a:prstGeom prst="roundRect">
            <a:avLst>
              <a:gd name="adj" fmla="val 16667"/>
            </a:avLst>
          </a:prstGeom>
          <a:solidFill>
            <a:srgbClr val="1A1633"/>
          </a:solidFill>
          <a:ln w="12700">
            <a:solidFill>
              <a:srgbClr val="1A16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09160" y="20208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Writer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2441448"/>
            <a:ext cx="2057400" cy="329184"/>
          </a:xfrm>
          <a:prstGeom prst="roundRect">
            <a:avLst>
              <a:gd name="adj" fmla="val 16667"/>
            </a:avLst>
          </a:prstGeom>
          <a:solidFill>
            <a:srgbClr val="1A1633"/>
          </a:solidFill>
          <a:ln w="12700">
            <a:solidFill>
              <a:srgbClr val="1A16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09160" y="24414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/ Judge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17720" y="2862072"/>
            <a:ext cx="2057400" cy="329184"/>
          </a:xfrm>
          <a:prstGeom prst="roundRect">
            <a:avLst>
              <a:gd name="adj" fmla="val 16667"/>
            </a:avLst>
          </a:prstGeom>
          <a:solidFill>
            <a:srgbClr val="1A1633"/>
          </a:solidFill>
          <a:ln w="12700">
            <a:solidFill>
              <a:srgbClr val="1A16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09160" y="28620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Director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3282696"/>
            <a:ext cx="2057400" cy="329184"/>
          </a:xfrm>
          <a:prstGeom prst="roundRect">
            <a:avLst>
              <a:gd name="adj" fmla="val 16667"/>
            </a:avLst>
          </a:prstGeom>
          <a:solidFill>
            <a:srgbClr val="1A1633"/>
          </a:solidFill>
          <a:ln w="12700">
            <a:solidFill>
              <a:srgbClr val="1A16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09160" y="328269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Captions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17720" y="3703320"/>
            <a:ext cx="2057400" cy="329184"/>
          </a:xfrm>
          <a:prstGeom prst="roundRect">
            <a:avLst>
              <a:gd name="adj" fmla="val 16667"/>
            </a:avLst>
          </a:prstGeom>
          <a:solidFill>
            <a:srgbClr val="1A1633"/>
          </a:solidFill>
          <a:ln w="12700">
            <a:solidFill>
              <a:srgbClr val="1A16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09160" y="37033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(FFmpeg)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4123944"/>
            <a:ext cx="2057400" cy="329184"/>
          </a:xfrm>
          <a:prstGeom prst="roundRect">
            <a:avLst>
              <a:gd name="adj" fmla="val 16667"/>
            </a:avLst>
          </a:prstGeom>
          <a:solidFill>
            <a:srgbClr val="1A1633"/>
          </a:solidFill>
          <a:ln w="12700">
            <a:solidFill>
              <a:srgbClr val="1A16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09160" y="41239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Gate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132320" y="1188720"/>
            <a:ext cx="1554480" cy="2011680"/>
          </a:xfrm>
          <a:prstGeom prst="roundRect">
            <a:avLst>
              <a:gd name="adj" fmla="val 4706"/>
            </a:avLst>
          </a:prstGeom>
          <a:solidFill>
            <a:srgbClr val="1A163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223760" y="1261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Router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7223760" y="1517904"/>
            <a:ext cx="13716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Gemini / GPT / Claude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Flux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Video: Kling / Veo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TTS: ElevenLabs / Indic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ASR: Whisper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Stock: Pexels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132320" y="338328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A163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223760" y="34564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132320" y="406908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B8F34A"/>
          </a:solidFill>
          <a:ln w="12700">
            <a:solidFill>
              <a:srgbClr val="B8F34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223760" y="41422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0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Qoneqt Global Feed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325880" y="1920240"/>
            <a:ext cx="0" cy="365760"/>
          </a:xfrm>
          <a:prstGeom prst="line">
            <a:avLst/>
          </a:prstGeom>
          <a:noFill/>
          <a:ln w="15875">
            <a:solidFill>
              <a:srgbClr val="C4B5FD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2194560" y="2624328"/>
            <a:ext cx="320040" cy="0"/>
          </a:xfrm>
          <a:prstGeom prst="line">
            <a:avLst/>
          </a:prstGeom>
          <a:noFill/>
          <a:ln w="15875">
            <a:solidFill>
              <a:srgbClr val="C4B5FD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3337560" y="1920240"/>
            <a:ext cx="0" cy="365760"/>
          </a:xfrm>
          <a:prstGeom prst="line">
            <a:avLst/>
          </a:prstGeom>
          <a:noFill/>
          <a:ln w="15875">
            <a:solidFill>
              <a:srgbClr val="C4B5FD"/>
            </a:solidFill>
            <a:prstDash val="solid"/>
            <a:headEnd type="triangle"/>
          </a:ln>
        </p:spPr>
      </p:sp>
      <p:sp>
        <p:nvSpPr>
          <p:cNvPr id="45" name="Shape 43"/>
          <p:cNvSpPr/>
          <p:nvPr/>
        </p:nvSpPr>
        <p:spPr>
          <a:xfrm>
            <a:off x="4160520" y="1572768"/>
            <a:ext cx="320040" cy="0"/>
          </a:xfrm>
          <a:prstGeom prst="line">
            <a:avLst/>
          </a:prstGeom>
          <a:noFill/>
          <a:ln w="15875">
            <a:solidFill>
              <a:srgbClr val="C4B5FD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4480560" y="3657600"/>
            <a:ext cx="-320040" cy="0"/>
          </a:xfrm>
          <a:prstGeom prst="line">
            <a:avLst/>
          </a:prstGeom>
          <a:noFill/>
          <a:ln w="15875">
            <a:solidFill>
              <a:srgbClr val="C4B5FD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812280" y="2194560"/>
            <a:ext cx="320040" cy="0"/>
          </a:xfrm>
          <a:prstGeom prst="line">
            <a:avLst/>
          </a:prstGeom>
          <a:noFill/>
          <a:ln w="15875">
            <a:solidFill>
              <a:srgbClr val="C4B5FD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812280" y="3630168"/>
            <a:ext cx="320040" cy="0"/>
          </a:xfrm>
          <a:prstGeom prst="line">
            <a:avLst/>
          </a:prstGeom>
          <a:noFill/>
          <a:ln w="15875">
            <a:solidFill>
              <a:srgbClr val="C4B5FD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909560" y="3886200"/>
            <a:ext cx="0" cy="182880"/>
          </a:xfrm>
          <a:prstGeom prst="line">
            <a:avLst/>
          </a:prstGeom>
          <a:noFill/>
          <a:ln w="15875">
            <a:solidFill>
              <a:srgbClr val="C4B5FD"/>
            </a:solidFill>
            <a:prstDash val="solid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QONEQT × CTRL FREAK 2026  ·  Qreate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/// THE AI ENGINE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Specialised agents, one structured scene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339596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188720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Agent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14356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the web, extracts facts + sources, flags anything unverifiable.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92024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3454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1883664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Agent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051560" y="21305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3 hook variants and a timed script in the community's tone and language.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2615184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29484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2578608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 Agent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051560" y="282549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rubric (hook, clarity, accuracy, safety); loops until score ≥ 8/10.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3310128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24428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51560" y="3273552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Director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1051560" y="3520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stock vs AI image vs AI clip per scene and writes the prompts.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57200" y="4005072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1937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51560" y="3968496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Agent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1051560" y="421538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model checks frames match the script; moderation + render checks.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800600" y="1188720"/>
            <a:ext cx="3886200" cy="3429000"/>
          </a:xfrm>
          <a:prstGeom prst="roundRect">
            <a:avLst>
              <a:gd name="adj" fmla="val 2133"/>
            </a:avLst>
          </a:prstGeom>
          <a:solidFill>
            <a:srgbClr val="07061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4937760" y="1261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scene_plan.json  (LLM structured output)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4937760" y="150876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8F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F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"hook": "Your brain forgets most of 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F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lecture in a day. Fix it.",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F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"language": "hinglish",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F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"community": "#StudyCommunity",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F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"scenes":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F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"id": 1, "dur": 3.5,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F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"vo": "Kal ka lecture yaad hai?",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F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"caption": "REMEMBER IT?",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F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"visual": { "mode": "ai_image",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F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"prompt": "tired student, desk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F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lamp, cinematic, 9:16" }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F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"id": 2, "dur": 6.0,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F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"visual": { "mode": "stock",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F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"query": "flashcards close up" }}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F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F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"cta": "Follow for part 2",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F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"tags": ["#studytips", "#qoneqt"]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F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7" name="Text 2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QONEQT × CTRL FREAK 2026  ·  Qreate</a:t>
            </a:r>
            <a:endParaRPr lang="en-US" sz="800" dirty="0"/>
          </a:p>
        </p:txBody>
      </p:sp>
      <p:sp>
        <p:nvSpPr>
          <p:cNvPr id="28" name="Text 2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/// TECH STACK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Best-in-class models, swappable by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1A1633"/>
          </a:solidFill>
          <a:ln w="12700">
            <a:solidFill>
              <a:srgbClr val="1A16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53312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662" y="1456182"/>
            <a:ext cx="205740" cy="2057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135331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1874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· GPT · Claude via LiteLLM router; Llama on Groq as fast fallback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60320" y="118872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1A1633"/>
          </a:solidFill>
          <a:ln w="12700">
            <a:solidFill>
              <a:srgbClr val="1A16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24912" y="1353312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782" y="1456182"/>
            <a:ext cx="205740" cy="2057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218688" y="135331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Generation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2724912" y="1874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images via fal.ai / Replicate; Kling or Veo for short hero clips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663440" y="118872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1A1633"/>
          </a:solidFill>
          <a:ln w="12700">
            <a:solidFill>
              <a:srgbClr val="1A163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28032" y="1353312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902" y="1456182"/>
            <a:ext cx="205740" cy="2057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21808" y="135331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&amp; Retrieval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4828032" y="1874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Pexels / Pixabay APIs; CLIP embeddings rank clip relevance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766560" y="118872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1A1633"/>
          </a:solidFill>
          <a:ln w="12700">
            <a:solidFill>
              <a:srgbClr val="1A163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31152" y="1353312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4022" y="1456182"/>
            <a:ext cx="205740" cy="2057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24928" y="135331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&amp; Audio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6931152" y="1874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/ Azure TTS; open Indic TTS; mood music, auto-ducking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57200" y="292608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1A1633"/>
          </a:solidFill>
          <a:ln w="12700">
            <a:solidFill>
              <a:srgbClr val="1A163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21792" y="3090672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62" y="3193542"/>
            <a:ext cx="205740" cy="2057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15568" y="309067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Captions &amp; QA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621792" y="36118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word timestamps; vision-LLM frame check; moderation API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2560320" y="292608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1A1633"/>
          </a:solidFill>
          <a:ln w="12700">
            <a:solidFill>
              <a:srgbClr val="1A1633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2724912" y="3090672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7782" y="3193542"/>
            <a:ext cx="205740" cy="20574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218688" y="309067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2724912" y="36118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+ MoviePy; 1080×1920, H.264, loudness-normalised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4663440" y="292608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1A1633"/>
          </a:solidFill>
          <a:ln w="12700">
            <a:solidFill>
              <a:srgbClr val="1A1633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4828032" y="3090672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0902" y="3193542"/>
            <a:ext cx="205740" cy="20574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5321808" y="309067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38" name="Text 29"/>
          <p:cNvSpPr txBox="1"/>
          <p:nvPr/>
        </p:nvSpPr>
        <p:spPr>
          <a:xfrm>
            <a:off x="4828032" y="36118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FastAPI, Celery + Redis, Postgres (Supabase), Cloudflare R2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6766560" y="292608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1A1633"/>
          </a:solidFill>
          <a:ln w="12700">
            <a:solidFill>
              <a:srgbClr val="1A1633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6931152" y="3090672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4022" y="3193542"/>
            <a:ext cx="205740" cy="20574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7424928" y="309067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Deploy</a:t>
            </a:r>
            <a:endParaRPr lang="en-US" sz="1100" dirty="0"/>
          </a:p>
        </p:txBody>
      </p:sp>
      <p:sp>
        <p:nvSpPr>
          <p:cNvPr id="43" name="Text 33"/>
          <p:cNvSpPr txBox="1"/>
          <p:nvPr/>
        </p:nvSpPr>
        <p:spPr>
          <a:xfrm>
            <a:off x="6931152" y="36118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on Vercel; Dockerised workers on Railway / Render</a:t>
            </a:r>
            <a:endParaRPr lang="en-US" sz="950" dirty="0"/>
          </a:p>
        </p:txBody>
      </p:sp>
      <p:sp>
        <p:nvSpPr>
          <p:cNvPr id="44" name="Text 3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QONEQT × CTRL FREAK 2026  ·  Qreate</a:t>
            </a:r>
            <a:endParaRPr lang="en-US" sz="800" dirty="0"/>
          </a:p>
        </p:txBody>
      </p:sp>
      <p:sp>
        <p:nvSpPr>
          <p:cNvPr id="45" name="Text 35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/// WHAT MAKES IT BETTER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Qreate vs the way it's done today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54480"/>
                <a:gridCol w="182880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4F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F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editing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F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AI video 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F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Qreate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D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Repeatable batch production at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F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Fact-grounded research with sources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F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Community-aware tone &amp; targeting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F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Self-critique loop + automated QA 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F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Hindi / Hinglish voice and captions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F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Regenerate a single scene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F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F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Packaged for the Qoneqt Global Feed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F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B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3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reflects typical workflows of template editors and text-to-video SaaS; it is a qualitative view, not a benchmark.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QONEQT × CTRL FREAK 2026  ·  Qreate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/// SCALE, COST &amp; RELIABILITY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run every day, not just once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241D4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F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 min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end-to-end time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45-second video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241D4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280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F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 in parallel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pool scales horizontally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241D4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280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F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₹5–100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cost / video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 (stock + open TTS) → Pro (AI clips)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994660"/>
            <a:ext cx="228600" cy="2286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051560" y="2852928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fallback chains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1051560" y="30998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provider fails or rate-limits, the router switches automatically.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63440" y="288036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2994660"/>
            <a:ext cx="228600" cy="2286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257800" y="2852928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caching &amp; resume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5257800" y="30998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jobs resume from the last good stage — no wasted spend.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71900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051560" y="3630168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QA gate</a:t>
            </a:r>
            <a:endParaRPr lang="en-US" sz="1150" dirty="0"/>
          </a:p>
        </p:txBody>
      </p:sp>
      <p:sp>
        <p:nvSpPr>
          <p:cNvPr id="27" name="Text 22"/>
          <p:cNvSpPr txBox="1"/>
          <p:nvPr/>
        </p:nvSpPr>
        <p:spPr>
          <a:xfrm>
            <a:off x="1051560" y="38770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Duration, black frames, audio level, caption sync, moderation.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663440" y="365760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740" y="3771900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5257800" y="3630168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5257800" y="38770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approve step before anything reaches the feed.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design targets and cost estimates; we will measure and report actuals in the demo.</a:t>
            </a:r>
            <a:endParaRPr lang="en-US" sz="850" dirty="0"/>
          </a:p>
        </p:txBody>
      </p:sp>
      <p:sp>
        <p:nvSpPr>
          <p:cNvPr id="33" name="Text 27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QONEQT × CTRL FREAK 2026  ·  Qreate</a:t>
            </a:r>
            <a:endParaRPr lang="en-US" sz="800" dirty="0"/>
          </a:p>
        </p:txBody>
      </p:sp>
      <p:sp>
        <p:nvSpPr>
          <p:cNvPr id="34" name="Text 28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/// FEASIBILITY: 8-HOUR BUILD PLAN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tracks, working video by hour 5.5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11430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011680" y="1389888"/>
            <a:ext cx="0" cy="2514600"/>
          </a:xfrm>
          <a:prstGeom prst="line">
            <a:avLst/>
          </a:prstGeom>
          <a:noFill/>
          <a:ln w="9525">
            <a:solidFill>
              <a:srgbClr val="2A25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63190" y="11430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846070" y="1389888"/>
            <a:ext cx="0" cy="2514600"/>
          </a:xfrm>
          <a:prstGeom prst="line">
            <a:avLst/>
          </a:prstGeom>
          <a:noFill/>
          <a:ln w="9525">
            <a:solidFill>
              <a:srgbClr val="2A25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97580" y="11430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80460" y="1389888"/>
            <a:ext cx="0" cy="2514600"/>
          </a:xfrm>
          <a:prstGeom prst="line">
            <a:avLst/>
          </a:prstGeom>
          <a:noFill/>
          <a:ln w="9525">
            <a:solidFill>
              <a:srgbClr val="2A25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31970" y="11430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14850" y="1389888"/>
            <a:ext cx="0" cy="2514600"/>
          </a:xfrm>
          <a:prstGeom prst="line">
            <a:avLst/>
          </a:prstGeom>
          <a:noFill/>
          <a:ln w="9525">
            <a:solidFill>
              <a:srgbClr val="2A25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66360" y="11430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49240" y="1389888"/>
            <a:ext cx="0" cy="2514600"/>
          </a:xfrm>
          <a:prstGeom prst="line">
            <a:avLst/>
          </a:prstGeom>
          <a:noFill/>
          <a:ln w="9525">
            <a:solidFill>
              <a:srgbClr val="2A25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00750" y="11430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83630" y="1389888"/>
            <a:ext cx="0" cy="2514600"/>
          </a:xfrm>
          <a:prstGeom prst="line">
            <a:avLst/>
          </a:prstGeom>
          <a:noFill/>
          <a:ln w="9525">
            <a:solidFill>
              <a:srgbClr val="2A25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35140" y="11430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18020" y="1389888"/>
            <a:ext cx="0" cy="2514600"/>
          </a:xfrm>
          <a:prstGeom prst="line">
            <a:avLst/>
          </a:prstGeom>
          <a:noFill/>
          <a:ln w="9525">
            <a:solidFill>
              <a:srgbClr val="2A25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69530" y="11430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852410" y="1389888"/>
            <a:ext cx="0" cy="2514600"/>
          </a:xfrm>
          <a:prstGeom prst="line">
            <a:avLst/>
          </a:prstGeom>
          <a:noFill/>
          <a:ln w="9525">
            <a:solidFill>
              <a:srgbClr val="2A25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03920" y="11430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686800" y="1389888"/>
            <a:ext cx="0" cy="2514600"/>
          </a:xfrm>
          <a:prstGeom prst="line">
            <a:avLst/>
          </a:prstGeom>
          <a:noFill/>
          <a:ln w="9525">
            <a:solidFill>
              <a:srgbClr val="2A255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14813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0848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track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268833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track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291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track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29968" y="1499616"/>
            <a:ext cx="797814" cy="420624"/>
          </a:xfrm>
          <a:prstGeom prst="roundRect">
            <a:avLst>
              <a:gd name="adj" fmla="val 1304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075688" y="1499616"/>
            <a:ext cx="7063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Repo, schema, API keys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619113" y="1499616"/>
            <a:ext cx="797814" cy="420624"/>
          </a:xfrm>
          <a:prstGeom prst="roundRect">
            <a:avLst>
              <a:gd name="adj" fmla="val 1304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64833" y="1499616"/>
            <a:ext cx="7063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end-to-end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453503" y="1499616"/>
            <a:ext cx="797814" cy="420624"/>
          </a:xfrm>
          <a:prstGeom prst="roundRect">
            <a:avLst>
              <a:gd name="adj" fmla="val 13043"/>
            </a:avLst>
          </a:prstGeom>
          <a:solidFill>
            <a:srgbClr val="B8F34A"/>
          </a:solidFill>
          <a:ln w="12700">
            <a:solidFill>
              <a:srgbClr val="B8F3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99223" y="1499616"/>
            <a:ext cx="7063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0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+ publish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287893" y="1499616"/>
            <a:ext cx="380619" cy="420624"/>
          </a:xfrm>
          <a:prstGeom prst="roundRect">
            <a:avLst>
              <a:gd name="adj" fmla="val 14414"/>
            </a:avLst>
          </a:prstGeom>
          <a:solidFill>
            <a:srgbClr val="B8F34A"/>
          </a:solidFill>
          <a:ln w="12700">
            <a:solidFill>
              <a:srgbClr val="B8F34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33613" y="1499616"/>
            <a:ext cx="28917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0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864358" y="2103120"/>
            <a:ext cx="2049399" cy="420624"/>
          </a:xfrm>
          <a:prstGeom prst="roundRect">
            <a:avLst>
              <a:gd name="adj" fmla="val 13043"/>
            </a:avLst>
          </a:prstGeom>
          <a:solidFill>
            <a:srgbClr val="6D4BD8"/>
          </a:solidFill>
          <a:ln w="12700">
            <a:solidFill>
              <a:srgbClr val="6D4BD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910078" y="2103120"/>
            <a:ext cx="195795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+ script + critic agents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950333" y="2103120"/>
            <a:ext cx="1632204" cy="420624"/>
          </a:xfrm>
          <a:prstGeom prst="roundRect">
            <a:avLst>
              <a:gd name="adj" fmla="val 13043"/>
            </a:avLst>
          </a:prstGeom>
          <a:solidFill>
            <a:srgbClr val="6D4BD8"/>
          </a:solidFill>
          <a:ln w="12700">
            <a:solidFill>
              <a:srgbClr val="6D4BD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996053" y="2103120"/>
            <a:ext cx="15407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director + QA agent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864358" y="2706624"/>
            <a:ext cx="1632204" cy="420624"/>
          </a:xfrm>
          <a:prstGeom prst="roundRect">
            <a:avLst>
              <a:gd name="adj" fmla="val 13043"/>
            </a:avLst>
          </a:prstGeom>
          <a:solidFill>
            <a:srgbClr val="6D4BD8"/>
          </a:solidFill>
          <a:ln w="12700">
            <a:solidFill>
              <a:srgbClr val="6D4BD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910078" y="2706624"/>
            <a:ext cx="15407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+ Whisper captions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33138" y="2706624"/>
            <a:ext cx="2049399" cy="420624"/>
          </a:xfrm>
          <a:prstGeom prst="roundRect">
            <a:avLst>
              <a:gd name="adj" fmla="val 13043"/>
            </a:avLst>
          </a:prstGeom>
          <a:solidFill>
            <a:srgbClr val="6D4BD8"/>
          </a:solidFill>
          <a:ln w="12700">
            <a:solidFill>
              <a:srgbClr val="6D4BD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578858" y="2706624"/>
            <a:ext cx="195795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fetch/gen + FFmpeg composer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864358" y="3310128"/>
            <a:ext cx="1632204" cy="420624"/>
          </a:xfrm>
          <a:prstGeom prst="roundRect">
            <a:avLst>
              <a:gd name="adj" fmla="val 13043"/>
            </a:avLst>
          </a:prstGeom>
          <a:solidFill>
            <a:srgbClr val="6D4BD8"/>
          </a:solidFill>
          <a:ln w="12700">
            <a:solidFill>
              <a:srgbClr val="6D4BD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910078" y="3310128"/>
            <a:ext cx="15407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Redis queue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33138" y="3310128"/>
            <a:ext cx="2049399" cy="420624"/>
          </a:xfrm>
          <a:prstGeom prst="roundRect">
            <a:avLst>
              <a:gd name="adj" fmla="val 13043"/>
            </a:avLst>
          </a:prstGeom>
          <a:solidFill>
            <a:srgbClr val="6D4BD8"/>
          </a:solidFill>
          <a:ln w="12700">
            <a:solidFill>
              <a:srgbClr val="6D4BD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578858" y="3310128"/>
            <a:ext cx="195795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studio + batch mode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57200" y="406908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A1633"/>
          </a:solidFill>
          <a:ln w="12700">
            <a:solidFill>
              <a:srgbClr val="1A163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0080" y="40690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F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 </a:t>
            </a:r>
            <a:pPr indent="0" marL="0">
              <a:buNone/>
            </a:pPr>
            <a:r>
              <a:rPr lang="en-US" sz="1100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valid scene-plan JSON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3383280" y="40690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F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H5.5  </a:t>
            </a:r>
            <a:pPr indent="0" marL="0">
              <a:buNone/>
            </a:pPr>
            <a:r>
              <a:rPr lang="en-US" sz="1100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full video rendered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6126480" y="40690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F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H7.5  </a:t>
            </a:r>
            <a:pPr indent="0" marL="0">
              <a:buNone/>
            </a:pPr>
            <a:r>
              <a:rPr lang="en-US" sz="1100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live on Qoneqt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QONEQT × CTRL FREAK 2026  ·  Qreate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/// IMPACT &amp; DELIVERABLES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Qoneqt gets on day 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16152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1341882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 supply for the Global Feed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463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Fresh, on-trend video every day without a production team.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066544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" y="2192274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20391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for community admins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23134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community can turn its discussions into video in minutes.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2916936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3042666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28895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across India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1143000" y="31638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Hinglish and English voice + captions widen the audience.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57200" y="3767328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" y="3893058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37398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what works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1143000" y="40142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variants and feed metrics create a data loop over time.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846320" y="1188720"/>
            <a:ext cx="3840480" cy="3429000"/>
          </a:xfrm>
          <a:prstGeom prst="roundRect">
            <a:avLst>
              <a:gd name="adj" fmla="val 2133"/>
            </a:avLst>
          </a:prstGeom>
          <a:solidFill>
            <a:srgbClr val="241D4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07492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F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ship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074920" y="178308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9220" y="1897380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669280" y="1755648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GitHub repo</a:t>
            </a:r>
            <a:endParaRPr lang="en-US" sz="1150" dirty="0"/>
          </a:p>
        </p:txBody>
      </p:sp>
      <p:sp>
        <p:nvSpPr>
          <p:cNvPr id="25" name="Text 18"/>
          <p:cNvSpPr txBox="1"/>
          <p:nvPr/>
        </p:nvSpPr>
        <p:spPr>
          <a:xfrm>
            <a:off x="5669280" y="2002536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README, architecture, setup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5074920" y="246888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9220" y="2583180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669280" y="2441448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deployment</a:t>
            </a:r>
            <a:endParaRPr lang="en-US" sz="1150" dirty="0"/>
          </a:p>
        </p:txBody>
      </p:sp>
      <p:sp>
        <p:nvSpPr>
          <p:cNvPr id="29" name="Text 21"/>
          <p:cNvSpPr txBox="1"/>
          <p:nvPr/>
        </p:nvSpPr>
        <p:spPr>
          <a:xfrm>
            <a:off x="5669280" y="2688336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studio anyone can try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5074920" y="315468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9220" y="3268980"/>
            <a:ext cx="228600" cy="2286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5669280" y="3127248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</a:t>
            </a:r>
            <a:endParaRPr lang="en-US" sz="1150" dirty="0"/>
          </a:p>
        </p:txBody>
      </p:sp>
      <p:sp>
        <p:nvSpPr>
          <p:cNvPr id="33" name="Text 24"/>
          <p:cNvSpPr txBox="1"/>
          <p:nvPr/>
        </p:nvSpPr>
        <p:spPr>
          <a:xfrm>
            <a:off x="5669280" y="3374136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→ finished reel, end to end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5074920" y="3840480"/>
            <a:ext cx="457200" cy="457200"/>
          </a:xfrm>
          <a:prstGeom prst="ellipse">
            <a:avLst/>
          </a:prstGeom>
          <a:solidFill>
            <a:srgbClr val="B8F34A"/>
          </a:solidFill>
          <a:ln w="12700">
            <a:solidFill>
              <a:srgbClr val="B8F34A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9220" y="3954780"/>
            <a:ext cx="228600" cy="22860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5669280" y="3813048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on Qoneqt</a:t>
            </a:r>
            <a:endParaRPr lang="en-US" sz="1150" dirty="0"/>
          </a:p>
        </p:txBody>
      </p:sp>
      <p:sp>
        <p:nvSpPr>
          <p:cNvPr id="37" name="Text 27"/>
          <p:cNvSpPr txBox="1"/>
          <p:nvPr/>
        </p:nvSpPr>
        <p:spPr>
          <a:xfrm>
            <a:off x="5669280" y="4059936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generated video live</a:t>
            </a:r>
            <a:endParaRPr lang="en-US" sz="1000" dirty="0"/>
          </a:p>
        </p:txBody>
      </p:sp>
      <p:sp>
        <p:nvSpPr>
          <p:cNvPr id="38" name="Text 28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QONEQT × CTRL FREAK 2026  ·  Qreate</a:t>
            </a:r>
            <a:endParaRPr lang="en-US" sz="800" dirty="0"/>
          </a:p>
        </p:txBody>
      </p:sp>
      <p:sp>
        <p:nvSpPr>
          <p:cNvPr id="39" name="Text 29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/// FUTURE SCOPE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pipeline to always-on content engine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A1633"/>
          </a:solidFill>
          <a:ln w="12700">
            <a:solidFill>
              <a:srgbClr val="1A16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learning loop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060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hook variants on the feed and feed watch-time back into the critic, so the system learns what Qoneqt audiences love.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1887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A1633"/>
          </a:solidFill>
          <a:ln w="12700">
            <a:solidFill>
              <a:srgbClr val="1A16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371600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5087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personas &amp; avatars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6060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voice, style and optional AI avatar per creator or community, owned by the creator.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11887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A1633"/>
          </a:solidFill>
          <a:ln w="12700">
            <a:solidFill>
              <a:srgbClr val="1A163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63640" y="1371600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087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6364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Always-on community channels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263640" y="26060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trend-to-video drafts for each community, queued for admin approval with one tap.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F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next: </a:t>
            </a:r>
            <a:pPr indent="0" marL="0">
              <a:buNone/>
            </a:pPr>
            <a:r>
              <a:rPr lang="en-US" sz="1150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brand-safe sponsored content, UGC remix, more Indian languages, analytics dashboard.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QONEQT × CTRL FREAK 2026  ·  Qreate</a:t>
            </a:r>
            <a:endParaRPr lang="en-US" sz="800" dirty="0"/>
          </a:p>
        </p:txBody>
      </p:sp>
      <p:sp>
        <p:nvSpPr>
          <p:cNvPr id="21" name="Text 16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822960"/>
            <a:ext cx="822960" cy="8229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6260" y="10287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F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Qreate — Topic in. Publish-ready Qoneqt reel out.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Team Name]  ·  [Team ID]  ·  [College Name]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5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just use Qoneqt. Build technology for Qoneqt.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Qreate — AI Content Pipeline for Qoneqt</dc:title>
  <dc:subject>PptxGenJS Presentation</dc:subject>
  <dc:creator>PptxGenJS</dc:creator>
  <cp:lastModifiedBy>PptxGenJS</cp:lastModifiedBy>
  <cp:revision>1</cp:revision>
  <dcterms:created xsi:type="dcterms:W3CDTF">2026-09-29T03:53:35Z</dcterms:created>
  <dcterms:modified xsi:type="dcterms:W3CDTF">2026-09-29T03:53:35Z</dcterms:modified>
</cp:coreProperties>
</file>